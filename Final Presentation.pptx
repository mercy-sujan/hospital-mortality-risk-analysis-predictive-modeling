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76" r:id="rId2"/>
    <p:sldId id="275" r:id="rId3"/>
    <p:sldId id="257" r:id="rId4"/>
    <p:sldId id="258" r:id="rId5"/>
    <p:sldId id="261" r:id="rId6"/>
    <p:sldId id="263" r:id="rId7"/>
    <p:sldId id="269" r:id="rId8"/>
    <p:sldId id="260" r:id="rId9"/>
    <p:sldId id="259" r:id="rId10"/>
    <p:sldId id="273" r:id="rId11"/>
    <p:sldId id="264" r:id="rId12"/>
    <p:sldId id="267" r:id="rId13"/>
    <p:sldId id="271" r:id="rId14"/>
    <p:sldId id="274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1FB22E1-BEA1-4D2A-B8BC-72B899AD5478}" type="doc">
      <dgm:prSet loTypeId="urn:microsoft.com/office/officeart/2005/8/layout/hierarchy1" loCatId="hierarchy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6EF27BE3-65B0-4F82-9606-36BD7D30E295}">
      <dgm:prSet/>
      <dgm:spPr/>
      <dgm:t>
        <a:bodyPr/>
        <a:lstStyle/>
        <a:p>
          <a:r>
            <a:rPr lang="en-US" dirty="0"/>
            <a:t>It has 91,713 instances and 85 features represents patient and encounter , clinical and vital signs, Conditions and Comorbidities and Death Risk Probabilities information.</a:t>
          </a:r>
        </a:p>
      </dgm:t>
    </dgm:pt>
    <dgm:pt modelId="{E9A721AB-5229-4D0D-ADE6-03606D44A382}" type="parTrans" cxnId="{2EDE5009-E835-4219-91E2-3DC35597D10C}">
      <dgm:prSet/>
      <dgm:spPr/>
      <dgm:t>
        <a:bodyPr/>
        <a:lstStyle/>
        <a:p>
          <a:endParaRPr lang="en-US"/>
        </a:p>
      </dgm:t>
    </dgm:pt>
    <dgm:pt modelId="{845F5D22-F6FC-450A-8567-A0AFBFBF51F7}" type="sibTrans" cxnId="{2EDE5009-E835-4219-91E2-3DC35597D10C}">
      <dgm:prSet/>
      <dgm:spPr/>
      <dgm:t>
        <a:bodyPr/>
        <a:lstStyle/>
        <a:p>
          <a:endParaRPr lang="en-US"/>
        </a:p>
      </dgm:t>
    </dgm:pt>
    <dgm:pt modelId="{C273359F-854C-49E6-BDD9-88001DB7B1B0}">
      <dgm:prSet/>
      <dgm:spPr/>
      <dgm:t>
        <a:bodyPr/>
        <a:lstStyle/>
        <a:p>
          <a:r>
            <a:rPr lang="en-US" dirty="0"/>
            <a:t>All  instances are numerical, Irrelevant instances are deleted and  deleted rows with null values, did label encoding and feature scaling is done.</a:t>
          </a:r>
        </a:p>
      </dgm:t>
    </dgm:pt>
    <dgm:pt modelId="{4CA72DED-ABDD-4D5C-8A17-3BE43DA00B81}" type="parTrans" cxnId="{C58D85DF-DCE7-4EDB-B782-F7FA66DBE46A}">
      <dgm:prSet/>
      <dgm:spPr/>
      <dgm:t>
        <a:bodyPr/>
        <a:lstStyle/>
        <a:p>
          <a:endParaRPr lang="en-US"/>
        </a:p>
      </dgm:t>
    </dgm:pt>
    <dgm:pt modelId="{13D011FD-04C4-4C86-A37B-4FB0EF98640A}" type="sibTrans" cxnId="{C58D85DF-DCE7-4EDB-B782-F7FA66DBE46A}">
      <dgm:prSet/>
      <dgm:spPr/>
      <dgm:t>
        <a:bodyPr/>
        <a:lstStyle/>
        <a:p>
          <a:endParaRPr lang="en-US"/>
        </a:p>
      </dgm:t>
    </dgm:pt>
    <dgm:pt modelId="{D1EA7CB4-3E4B-4411-88E9-4346ECD65247}">
      <dgm:prSet/>
      <dgm:spPr/>
      <dgm:t>
        <a:bodyPr/>
        <a:lstStyle/>
        <a:p>
          <a:r>
            <a:rPr lang="en-US" i="0" dirty="0"/>
            <a:t>To predict hospi</a:t>
          </a:r>
          <a:r>
            <a:rPr lang="en-US" dirty="0"/>
            <a:t>tal death, demographic data, ICU-related detail, Glasgow Coma Scale, BP, Respiratory rate, Diseases, Diagnosis codes, Surgical Information, Hospital Death and ICU Death are key predictors</a:t>
          </a:r>
        </a:p>
      </dgm:t>
    </dgm:pt>
    <dgm:pt modelId="{3165B849-E9A1-4481-AD58-34BBF5C6A169}" type="parTrans" cxnId="{7936D475-FFC7-41AE-93E2-864C1E093C22}">
      <dgm:prSet/>
      <dgm:spPr/>
      <dgm:t>
        <a:bodyPr/>
        <a:lstStyle/>
        <a:p>
          <a:endParaRPr lang="en-US"/>
        </a:p>
      </dgm:t>
    </dgm:pt>
    <dgm:pt modelId="{8A8DD6DB-B152-4DB6-8EA1-BE6CB76474DE}" type="sibTrans" cxnId="{7936D475-FFC7-41AE-93E2-864C1E093C22}">
      <dgm:prSet/>
      <dgm:spPr/>
      <dgm:t>
        <a:bodyPr/>
        <a:lstStyle/>
        <a:p>
          <a:endParaRPr lang="en-US"/>
        </a:p>
      </dgm:t>
    </dgm:pt>
    <dgm:pt modelId="{A9FD5EE1-CCBB-4693-A604-D2FDAC98B05C}" type="pres">
      <dgm:prSet presAssocID="{01FB22E1-BEA1-4D2A-B8BC-72B899AD5478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F7BE3E1E-7D95-42E8-B352-8A2C93D57F70}" type="pres">
      <dgm:prSet presAssocID="{6EF27BE3-65B0-4F82-9606-36BD7D30E295}" presName="hierRoot1" presStyleCnt="0"/>
      <dgm:spPr/>
    </dgm:pt>
    <dgm:pt modelId="{9935F8DD-C97A-484E-B317-33B10724DDCB}" type="pres">
      <dgm:prSet presAssocID="{6EF27BE3-65B0-4F82-9606-36BD7D30E295}" presName="composite" presStyleCnt="0"/>
      <dgm:spPr/>
    </dgm:pt>
    <dgm:pt modelId="{D11E2F70-5582-4CBD-86FC-839CFA4B75C2}" type="pres">
      <dgm:prSet presAssocID="{6EF27BE3-65B0-4F82-9606-36BD7D30E295}" presName="background" presStyleLbl="node0" presStyleIdx="0" presStyleCnt="3"/>
      <dgm:spPr/>
    </dgm:pt>
    <dgm:pt modelId="{9197FBDB-1F27-4780-9817-3D1E3BA404DB}" type="pres">
      <dgm:prSet presAssocID="{6EF27BE3-65B0-4F82-9606-36BD7D30E295}" presName="text" presStyleLbl="fgAcc0" presStyleIdx="0" presStyleCnt="3">
        <dgm:presLayoutVars>
          <dgm:chPref val="3"/>
        </dgm:presLayoutVars>
      </dgm:prSet>
      <dgm:spPr/>
    </dgm:pt>
    <dgm:pt modelId="{5A02A9AC-2EC9-4ABF-92F3-DE5E9B574C61}" type="pres">
      <dgm:prSet presAssocID="{6EF27BE3-65B0-4F82-9606-36BD7D30E295}" presName="hierChild2" presStyleCnt="0"/>
      <dgm:spPr/>
    </dgm:pt>
    <dgm:pt modelId="{76E978D9-7D9A-4CAA-BDB1-0C26D6B672B2}" type="pres">
      <dgm:prSet presAssocID="{C273359F-854C-49E6-BDD9-88001DB7B1B0}" presName="hierRoot1" presStyleCnt="0"/>
      <dgm:spPr/>
    </dgm:pt>
    <dgm:pt modelId="{C731402D-F4A3-4705-AF74-791D46BA0D16}" type="pres">
      <dgm:prSet presAssocID="{C273359F-854C-49E6-BDD9-88001DB7B1B0}" presName="composite" presStyleCnt="0"/>
      <dgm:spPr/>
    </dgm:pt>
    <dgm:pt modelId="{06CF7E92-2C97-4648-9368-BDBB03489601}" type="pres">
      <dgm:prSet presAssocID="{C273359F-854C-49E6-BDD9-88001DB7B1B0}" presName="background" presStyleLbl="node0" presStyleIdx="1" presStyleCnt="3"/>
      <dgm:spPr/>
    </dgm:pt>
    <dgm:pt modelId="{A70710A9-9721-41C7-A72E-49975654E2A6}" type="pres">
      <dgm:prSet presAssocID="{C273359F-854C-49E6-BDD9-88001DB7B1B0}" presName="text" presStyleLbl="fgAcc0" presStyleIdx="1" presStyleCnt="3">
        <dgm:presLayoutVars>
          <dgm:chPref val="3"/>
        </dgm:presLayoutVars>
      </dgm:prSet>
      <dgm:spPr/>
    </dgm:pt>
    <dgm:pt modelId="{3969A143-E8D7-4F71-94C1-2A225E46A627}" type="pres">
      <dgm:prSet presAssocID="{C273359F-854C-49E6-BDD9-88001DB7B1B0}" presName="hierChild2" presStyleCnt="0"/>
      <dgm:spPr/>
    </dgm:pt>
    <dgm:pt modelId="{A43661B6-826D-4F70-860E-FAD99B09BE1C}" type="pres">
      <dgm:prSet presAssocID="{D1EA7CB4-3E4B-4411-88E9-4346ECD65247}" presName="hierRoot1" presStyleCnt="0"/>
      <dgm:spPr/>
    </dgm:pt>
    <dgm:pt modelId="{DEBFDA95-EC28-4ABF-96AD-9A8B75354AE3}" type="pres">
      <dgm:prSet presAssocID="{D1EA7CB4-3E4B-4411-88E9-4346ECD65247}" presName="composite" presStyleCnt="0"/>
      <dgm:spPr/>
    </dgm:pt>
    <dgm:pt modelId="{561F04A2-6E3B-401A-BCC1-89F049F99903}" type="pres">
      <dgm:prSet presAssocID="{D1EA7CB4-3E4B-4411-88E9-4346ECD65247}" presName="background" presStyleLbl="node0" presStyleIdx="2" presStyleCnt="3"/>
      <dgm:spPr/>
    </dgm:pt>
    <dgm:pt modelId="{DECBD995-B121-4772-998D-34EB5B7CE174}" type="pres">
      <dgm:prSet presAssocID="{D1EA7CB4-3E4B-4411-88E9-4346ECD65247}" presName="text" presStyleLbl="fgAcc0" presStyleIdx="2" presStyleCnt="3">
        <dgm:presLayoutVars>
          <dgm:chPref val="3"/>
        </dgm:presLayoutVars>
      </dgm:prSet>
      <dgm:spPr/>
    </dgm:pt>
    <dgm:pt modelId="{CD2FE394-2F23-4EE0-A474-383AEC8CFEEE}" type="pres">
      <dgm:prSet presAssocID="{D1EA7CB4-3E4B-4411-88E9-4346ECD65247}" presName="hierChild2" presStyleCnt="0"/>
      <dgm:spPr/>
    </dgm:pt>
  </dgm:ptLst>
  <dgm:cxnLst>
    <dgm:cxn modelId="{2EDE5009-E835-4219-91E2-3DC35597D10C}" srcId="{01FB22E1-BEA1-4D2A-B8BC-72B899AD5478}" destId="{6EF27BE3-65B0-4F82-9606-36BD7D30E295}" srcOrd="0" destOrd="0" parTransId="{E9A721AB-5229-4D0D-ADE6-03606D44A382}" sibTransId="{845F5D22-F6FC-450A-8567-A0AFBFBF51F7}"/>
    <dgm:cxn modelId="{7936D475-FFC7-41AE-93E2-864C1E093C22}" srcId="{01FB22E1-BEA1-4D2A-B8BC-72B899AD5478}" destId="{D1EA7CB4-3E4B-4411-88E9-4346ECD65247}" srcOrd="2" destOrd="0" parTransId="{3165B849-E9A1-4481-AD58-34BBF5C6A169}" sibTransId="{8A8DD6DB-B152-4DB6-8EA1-BE6CB76474DE}"/>
    <dgm:cxn modelId="{3C9E507E-8F81-4159-B6DB-940BD75A67CA}" type="presOf" srcId="{C273359F-854C-49E6-BDD9-88001DB7B1B0}" destId="{A70710A9-9721-41C7-A72E-49975654E2A6}" srcOrd="0" destOrd="0" presId="urn:microsoft.com/office/officeart/2005/8/layout/hierarchy1"/>
    <dgm:cxn modelId="{208E668C-35F4-458A-A06B-BED7C5E58A6A}" type="presOf" srcId="{D1EA7CB4-3E4B-4411-88E9-4346ECD65247}" destId="{DECBD995-B121-4772-998D-34EB5B7CE174}" srcOrd="0" destOrd="0" presId="urn:microsoft.com/office/officeart/2005/8/layout/hierarchy1"/>
    <dgm:cxn modelId="{F4E51B9D-2B38-42F4-9A7F-51C8ABCB7392}" type="presOf" srcId="{01FB22E1-BEA1-4D2A-B8BC-72B899AD5478}" destId="{A9FD5EE1-CCBB-4693-A604-D2FDAC98B05C}" srcOrd="0" destOrd="0" presId="urn:microsoft.com/office/officeart/2005/8/layout/hierarchy1"/>
    <dgm:cxn modelId="{C58D85DF-DCE7-4EDB-B782-F7FA66DBE46A}" srcId="{01FB22E1-BEA1-4D2A-B8BC-72B899AD5478}" destId="{C273359F-854C-49E6-BDD9-88001DB7B1B0}" srcOrd="1" destOrd="0" parTransId="{4CA72DED-ABDD-4D5C-8A17-3BE43DA00B81}" sibTransId="{13D011FD-04C4-4C86-A37B-4FB0EF98640A}"/>
    <dgm:cxn modelId="{F9B3F6EC-213C-4378-9311-DAF915969258}" type="presOf" srcId="{6EF27BE3-65B0-4F82-9606-36BD7D30E295}" destId="{9197FBDB-1F27-4780-9817-3D1E3BA404DB}" srcOrd="0" destOrd="0" presId="urn:microsoft.com/office/officeart/2005/8/layout/hierarchy1"/>
    <dgm:cxn modelId="{A7E0D382-1626-4998-A201-6FEA1CC38E03}" type="presParOf" srcId="{A9FD5EE1-CCBB-4693-A604-D2FDAC98B05C}" destId="{F7BE3E1E-7D95-42E8-B352-8A2C93D57F70}" srcOrd="0" destOrd="0" presId="urn:microsoft.com/office/officeart/2005/8/layout/hierarchy1"/>
    <dgm:cxn modelId="{5C93D031-E94A-4161-B8A6-9CE2F4744DDE}" type="presParOf" srcId="{F7BE3E1E-7D95-42E8-B352-8A2C93D57F70}" destId="{9935F8DD-C97A-484E-B317-33B10724DDCB}" srcOrd="0" destOrd="0" presId="urn:microsoft.com/office/officeart/2005/8/layout/hierarchy1"/>
    <dgm:cxn modelId="{A0A22387-85F4-4918-9735-C516D6E93D0F}" type="presParOf" srcId="{9935F8DD-C97A-484E-B317-33B10724DDCB}" destId="{D11E2F70-5582-4CBD-86FC-839CFA4B75C2}" srcOrd="0" destOrd="0" presId="urn:microsoft.com/office/officeart/2005/8/layout/hierarchy1"/>
    <dgm:cxn modelId="{92EA1150-9051-4A28-B76A-4CC84310B8A6}" type="presParOf" srcId="{9935F8DD-C97A-484E-B317-33B10724DDCB}" destId="{9197FBDB-1F27-4780-9817-3D1E3BA404DB}" srcOrd="1" destOrd="0" presId="urn:microsoft.com/office/officeart/2005/8/layout/hierarchy1"/>
    <dgm:cxn modelId="{83C9E01A-AE47-4021-99B8-252D0E7F47FC}" type="presParOf" srcId="{F7BE3E1E-7D95-42E8-B352-8A2C93D57F70}" destId="{5A02A9AC-2EC9-4ABF-92F3-DE5E9B574C61}" srcOrd="1" destOrd="0" presId="urn:microsoft.com/office/officeart/2005/8/layout/hierarchy1"/>
    <dgm:cxn modelId="{D94E9B5D-7E27-4110-B34E-6D0E53709F0D}" type="presParOf" srcId="{A9FD5EE1-CCBB-4693-A604-D2FDAC98B05C}" destId="{76E978D9-7D9A-4CAA-BDB1-0C26D6B672B2}" srcOrd="1" destOrd="0" presId="urn:microsoft.com/office/officeart/2005/8/layout/hierarchy1"/>
    <dgm:cxn modelId="{5C863A60-46F1-4B18-A41A-669726037226}" type="presParOf" srcId="{76E978D9-7D9A-4CAA-BDB1-0C26D6B672B2}" destId="{C731402D-F4A3-4705-AF74-791D46BA0D16}" srcOrd="0" destOrd="0" presId="urn:microsoft.com/office/officeart/2005/8/layout/hierarchy1"/>
    <dgm:cxn modelId="{2E7A79B0-D5B0-45EC-9576-0B5F9FE92436}" type="presParOf" srcId="{C731402D-F4A3-4705-AF74-791D46BA0D16}" destId="{06CF7E92-2C97-4648-9368-BDBB03489601}" srcOrd="0" destOrd="0" presId="urn:microsoft.com/office/officeart/2005/8/layout/hierarchy1"/>
    <dgm:cxn modelId="{CAF8E842-0AF3-46F9-94FB-5346FA5B4FC7}" type="presParOf" srcId="{C731402D-F4A3-4705-AF74-791D46BA0D16}" destId="{A70710A9-9721-41C7-A72E-49975654E2A6}" srcOrd="1" destOrd="0" presId="urn:microsoft.com/office/officeart/2005/8/layout/hierarchy1"/>
    <dgm:cxn modelId="{5E4194E8-938A-4363-98B9-9048A9434F6F}" type="presParOf" srcId="{76E978D9-7D9A-4CAA-BDB1-0C26D6B672B2}" destId="{3969A143-E8D7-4F71-94C1-2A225E46A627}" srcOrd="1" destOrd="0" presId="urn:microsoft.com/office/officeart/2005/8/layout/hierarchy1"/>
    <dgm:cxn modelId="{D47685C6-8338-4A81-B7A8-7952670FC769}" type="presParOf" srcId="{A9FD5EE1-CCBB-4693-A604-D2FDAC98B05C}" destId="{A43661B6-826D-4F70-860E-FAD99B09BE1C}" srcOrd="2" destOrd="0" presId="urn:microsoft.com/office/officeart/2005/8/layout/hierarchy1"/>
    <dgm:cxn modelId="{0EFFA685-8A61-4A13-B2AD-063936BA2B90}" type="presParOf" srcId="{A43661B6-826D-4F70-860E-FAD99B09BE1C}" destId="{DEBFDA95-EC28-4ABF-96AD-9A8B75354AE3}" srcOrd="0" destOrd="0" presId="urn:microsoft.com/office/officeart/2005/8/layout/hierarchy1"/>
    <dgm:cxn modelId="{2182E7EF-BCEC-4A15-A8AC-360A02A2307E}" type="presParOf" srcId="{DEBFDA95-EC28-4ABF-96AD-9A8B75354AE3}" destId="{561F04A2-6E3B-401A-BCC1-89F049F99903}" srcOrd="0" destOrd="0" presId="urn:microsoft.com/office/officeart/2005/8/layout/hierarchy1"/>
    <dgm:cxn modelId="{C409458B-3CAF-47E5-907D-01CA031282F7}" type="presParOf" srcId="{DEBFDA95-EC28-4ABF-96AD-9A8B75354AE3}" destId="{DECBD995-B121-4772-998D-34EB5B7CE174}" srcOrd="1" destOrd="0" presId="urn:microsoft.com/office/officeart/2005/8/layout/hierarchy1"/>
    <dgm:cxn modelId="{478CC011-5CFC-4350-9FCD-E8803E565217}" type="presParOf" srcId="{A43661B6-826D-4F70-860E-FAD99B09BE1C}" destId="{CD2FE394-2F23-4EE0-A474-383AEC8CFEEE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1E2F70-5582-4CBD-86FC-839CFA4B75C2}">
      <dsp:nvSpPr>
        <dsp:cNvPr id="0" name=""/>
        <dsp:cNvSpPr/>
      </dsp:nvSpPr>
      <dsp:spPr>
        <a:xfrm>
          <a:off x="0" y="706671"/>
          <a:ext cx="3073451" cy="19516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97FBDB-1F27-4780-9817-3D1E3BA404DB}">
      <dsp:nvSpPr>
        <dsp:cNvPr id="0" name=""/>
        <dsp:cNvSpPr/>
      </dsp:nvSpPr>
      <dsp:spPr>
        <a:xfrm>
          <a:off x="341494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It has 91,713 instances and 85 features represents patient and encounter , clinical and vital signs, Conditions and Comorbidities and Death Risk Probabilities information.</a:t>
          </a:r>
        </a:p>
      </dsp:txBody>
      <dsp:txXfrm>
        <a:off x="398656" y="1088253"/>
        <a:ext cx="2959127" cy="1837317"/>
      </dsp:txXfrm>
    </dsp:sp>
    <dsp:sp modelId="{06CF7E92-2C97-4648-9368-BDBB03489601}">
      <dsp:nvSpPr>
        <dsp:cNvPr id="0" name=""/>
        <dsp:cNvSpPr/>
      </dsp:nvSpPr>
      <dsp:spPr>
        <a:xfrm>
          <a:off x="3756441" y="706671"/>
          <a:ext cx="3073451" cy="19516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0710A9-9721-41C7-A72E-49975654E2A6}">
      <dsp:nvSpPr>
        <dsp:cNvPr id="0" name=""/>
        <dsp:cNvSpPr/>
      </dsp:nvSpPr>
      <dsp:spPr>
        <a:xfrm>
          <a:off x="4097935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All  instances are numerical, Irrelevant instances are deleted and  deleted rows with null values, did label encoding and feature scaling is done.</a:t>
          </a:r>
        </a:p>
      </dsp:txBody>
      <dsp:txXfrm>
        <a:off x="4155097" y="1088253"/>
        <a:ext cx="2959127" cy="1837317"/>
      </dsp:txXfrm>
    </dsp:sp>
    <dsp:sp modelId="{561F04A2-6E3B-401A-BCC1-89F049F99903}">
      <dsp:nvSpPr>
        <dsp:cNvPr id="0" name=""/>
        <dsp:cNvSpPr/>
      </dsp:nvSpPr>
      <dsp:spPr>
        <a:xfrm>
          <a:off x="7512882" y="706671"/>
          <a:ext cx="3073451" cy="19516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CBD995-B121-4772-998D-34EB5B7CE174}">
      <dsp:nvSpPr>
        <dsp:cNvPr id="0" name=""/>
        <dsp:cNvSpPr/>
      </dsp:nvSpPr>
      <dsp:spPr>
        <a:xfrm>
          <a:off x="7854377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i="0" kern="1200" dirty="0"/>
            <a:t>To predict hospi</a:t>
          </a:r>
          <a:r>
            <a:rPr lang="en-US" sz="1600" kern="1200" dirty="0"/>
            <a:t>tal death, demographic data, ICU-related detail, Glasgow Coma Scale, BP, Respiratory rate, Diseases, Diagnosis codes, Surgical Information, Hospital Death and ICU Death are key predictors</a:t>
          </a:r>
        </a:p>
      </dsp:txBody>
      <dsp:txXfrm>
        <a:off x="7911539" y="1088253"/>
        <a:ext cx="2959127" cy="183731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A87C1-DABD-F36A-E6A6-35A93A2024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3C1A6E-9678-B94C-A7F2-F6DD72B6C9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258A19-8C28-418C-4ED1-0CDF8BA4C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7EB8E-7B2A-4A77-A5A2-A2A6EB6DF21A}" type="datetimeFigureOut">
              <a:rPr lang="en-US" smtClean="0"/>
              <a:t>23-Jun-25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B0884A-0558-9824-73F2-9D3CD396B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5E1950-572D-4113-98C2-D02E6AE0A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6338E-45B3-4756-A4BF-928C94699B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922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A36A4-A3A4-8749-C18D-329B4C5BE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D3F8B9-595D-599D-5CF3-94BA7AB433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F3935D-DD17-BD12-F624-8992580D3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7EB8E-7B2A-4A77-A5A2-A2A6EB6DF21A}" type="datetimeFigureOut">
              <a:rPr lang="en-US" smtClean="0"/>
              <a:t>23-Jun-25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1D892E-B83D-968E-F0F8-DE2F0EE08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077DCC-7638-AD16-4BCE-FE1A9C41E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6338E-45B3-4756-A4BF-928C94699B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4438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47D7C-0034-58FA-57CE-37B183ED0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1FF7C2-0A5A-8502-2C43-12E457D8C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D08A0D-DF2C-9686-C500-A3B0080A7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7EB8E-7B2A-4A77-A5A2-A2A6EB6DF21A}" type="datetimeFigureOut">
              <a:rPr lang="en-US" smtClean="0"/>
              <a:t>23-Jun-25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A9F622-5A75-070E-1120-ACF5444F6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EBE3F7-8A71-B341-8B1D-EDB7A0CF0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6338E-45B3-4756-A4BF-928C94699B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1165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A99E5-74DF-F7BE-01EE-430BD73FE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7C2AB6-1C95-E4F7-11BF-3D604E74C0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982CAB-A85D-B96C-E5AD-4B66E58543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150B75-ADDC-9145-EF71-E38CA179A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7EB8E-7B2A-4A77-A5A2-A2A6EB6DF21A}" type="datetimeFigureOut">
              <a:rPr lang="en-US" smtClean="0"/>
              <a:t>23-Jun-25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C884F-D7C6-66D3-6B07-B78259FA4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5F7240-97B0-BB7A-2A6B-81716B50D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6338E-45B3-4756-A4BF-928C94699B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7964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FDD26-A0BC-4419-87C6-42EA24A6F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4CCC2C-7885-2132-0C3D-5B0936F499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A22DAD-CC0F-FDF1-2B68-001AAD5B97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F1C704-9094-D8C1-5234-86CD6A2429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3E9A51-A3CF-6777-65D3-5E67BF1827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468AC3-A979-F61D-D7C9-BFD14DE8C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7EB8E-7B2A-4A77-A5A2-A2A6EB6DF21A}" type="datetimeFigureOut">
              <a:rPr lang="en-US" smtClean="0"/>
              <a:t>23-Jun-25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11489B-3846-C6D0-6805-8D72F9476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E9F1D0-CCC3-0330-45F3-672567171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6338E-45B3-4756-A4BF-928C94699B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7047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A0419-B3EB-3D4D-91AF-85F2B2DC5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8FC7F7-D366-6491-B1A4-247878669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7EB8E-7B2A-4A77-A5A2-A2A6EB6DF21A}" type="datetimeFigureOut">
              <a:rPr lang="en-US" smtClean="0"/>
              <a:t>23-Jun-25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82F961-BED2-F25E-805E-31BCF96CA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A7F58A-7077-CDE6-B180-818B4F502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6338E-45B3-4756-A4BF-928C94699B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659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95CF3A-AB88-953A-6822-279B01AF8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7EB8E-7B2A-4A77-A5A2-A2A6EB6DF21A}" type="datetimeFigureOut">
              <a:rPr lang="en-US" smtClean="0"/>
              <a:t>23-Jun-25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03BE6D-C1D9-9BD9-D61C-A0560D4F1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B189E7-2116-9278-4F84-7D85BA86B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6338E-45B3-4756-A4BF-928C94699B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2315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7D59A-43EB-259A-A726-81F8E550D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B5B0F3-4B81-4BCA-FEE4-382B3D7248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71701A-B8C7-E751-A5BC-0323FBB7DF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FE312A-9954-BB1A-D724-1E255C07C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7EB8E-7B2A-4A77-A5A2-A2A6EB6DF21A}" type="datetimeFigureOut">
              <a:rPr lang="en-US" smtClean="0"/>
              <a:t>23-Jun-25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A0079D-F232-5DDB-AAB2-3A1406460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9E163E-D653-2AEB-2BD9-AFD84415A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6338E-45B3-4756-A4BF-928C94699B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2447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0DDCC-9B92-32DA-8848-CEC2C6B7BB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511105-356D-48A0-DA51-52FE39807D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61D9E9-89EF-5756-6C60-E5C883E70E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6491B7-E0E9-8ADA-A6E3-DECE36DBC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7EB8E-7B2A-4A77-A5A2-A2A6EB6DF21A}" type="datetimeFigureOut">
              <a:rPr lang="en-US" smtClean="0"/>
              <a:t>23-Jun-25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93C4F4-70FA-6FC8-0BB0-AA28FBB03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42F844-073E-7BB9-CB4E-BE6B96717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6338E-45B3-4756-A4BF-928C94699B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2074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38968-B2FE-A36B-099B-75A68D9D1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E07582-BD57-3B3D-9170-BC8D7CC4D2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53E2A9-5C0D-48A3-3B04-738F6F603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7EB8E-7B2A-4A77-A5A2-A2A6EB6DF21A}" type="datetimeFigureOut">
              <a:rPr lang="en-US" smtClean="0"/>
              <a:t>23-Jun-25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41951C-20BB-9A51-9D56-A9F294C9B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5FA2C6-FBB8-E16A-EA38-A3D461CFB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6338E-45B3-4756-A4BF-928C94699B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149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5A588CE-6DFC-C12F-AE52-856B536D66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CC66A1-F30D-08E0-ACF1-1A6822E3E4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82F40F-E1E6-4E59-82E8-C3C1E095A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7EB8E-7B2A-4A77-A5A2-A2A6EB6DF21A}" type="datetimeFigureOut">
              <a:rPr lang="en-US" smtClean="0"/>
              <a:t>23-Jun-25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94399B-316F-26DA-76AC-B8E7B80E6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A7C42C-D9B5-64AB-5275-47F45E4D7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6338E-45B3-4756-A4BF-928C94699B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6817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1ADA06-334E-E894-973E-B30A3BC7E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7DF09C-E3DC-DC07-630A-C7F71AD585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51D184-A452-0F70-CD67-2CC1C536E4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27EB8E-7B2A-4A77-A5A2-A2A6EB6DF21A}" type="datetimeFigureOut">
              <a:rPr lang="en-US" smtClean="0"/>
              <a:t>23-Jun-25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D83217-8730-241C-765A-DF77D16970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9EAB67-2285-CC68-599F-2D4145BA63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A6338E-45B3-4756-A4BF-928C94699B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2825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D805F7-893E-DA4D-9301-854A5198E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0BD96342-9562-4B08-9E34-53EB1F365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2174C665-B4AB-6D51-B6D3-9CF6AC12B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65F6C72-DB73-528E-9779-B89575C68B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C4F811E-8714-4D0C-D4FD-8DD3805FD3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912D34E-A162-68EC-F9E8-6D2F35BDC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2BE717BF-82B9-C858-615E-ABD9934844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84A2F35-8D01-32A6-EC21-1422355F19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0E9277-CAB3-5883-8302-C34BFF1B7C6C}"/>
              </a:ext>
            </a:extLst>
          </p:cNvPr>
          <p:cNvSpPr txBox="1"/>
          <p:nvPr/>
        </p:nvSpPr>
        <p:spPr>
          <a:xfrm>
            <a:off x="466722" y="586855"/>
            <a:ext cx="3201366" cy="33874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Predictive Modeling in Health Care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09176B-1BB0-42DA-38DE-1FC2F1C783F0}"/>
              </a:ext>
            </a:extLst>
          </p:cNvPr>
          <p:cNvSpPr txBox="1"/>
          <p:nvPr/>
        </p:nvSpPr>
        <p:spPr>
          <a:xfrm>
            <a:off x="4905054" y="1396732"/>
            <a:ext cx="6585328" cy="4866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800" b="1" i="1" dirty="0">
                <a:solidFill>
                  <a:schemeClr val="tx2">
                    <a:lumMod val="75000"/>
                  </a:schemeClr>
                </a:solidFill>
              </a:rPr>
              <a:t>Analyzing Patient Outcomes Using Machine Learning Techniques</a:t>
            </a:r>
          </a:p>
          <a:p>
            <a:pPr marL="0" indent="0">
              <a:buNone/>
            </a:pPr>
            <a:endParaRPr lang="en-US" sz="2800" i="1" dirty="0"/>
          </a:p>
          <a:p>
            <a:pPr marL="0" indent="0">
              <a:buNone/>
            </a:pPr>
            <a:endParaRPr lang="en-US" sz="2800" i="1" dirty="0"/>
          </a:p>
          <a:p>
            <a:pPr marL="0" indent="0">
              <a:buNone/>
            </a:pPr>
            <a:endParaRPr lang="en-US" sz="2800" i="1" dirty="0"/>
          </a:p>
        </p:txBody>
      </p:sp>
    </p:spTree>
    <p:extLst>
      <p:ext uri="{BB962C8B-B14F-4D97-AF65-F5344CB8AC3E}">
        <p14:creationId xmlns:p14="http://schemas.microsoft.com/office/powerpoint/2010/main" val="2079739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B3CCC4-9619-0C5B-8D34-6F5442144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E1FFC6EA-0CC6-9A6D-F1DE-7ACDBADA19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C3933B8-E7B5-9062-5B08-9F728150D1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944B809-8352-6630-1B6B-49CE2051E3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DC80823-27DC-F3F8-F815-61B6A11546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9DE1A8-6277-6B5C-CFF9-8B9EC74E1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Data set description and EDA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A12EE99-B52C-5633-734C-E3199D1C95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74366709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307495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FB754D-04C0-90E6-5568-A0AE6BD18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50D1C5B3-B60D-4696-AE60-100D5EC8AB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184EE59-3061-456B-9FB5-98A8E0E74B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7E07B5E-9FB5-4C91-8BE4-6167EB58D0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7524947-EB09-4DD9-973B-9F75BBCD7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30C8E25-2DD1-45C6-9F04-0F0CBF6660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BC57EA3C-C239-4132-A618-5CBE9F896B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55F6D6-B355-6FC9-F680-6638D26F64A7}"/>
              </a:ext>
            </a:extLst>
          </p:cNvPr>
          <p:cNvSpPr txBox="1"/>
          <p:nvPr/>
        </p:nvSpPr>
        <p:spPr>
          <a:xfrm>
            <a:off x="498143" y="456345"/>
            <a:ext cx="3179929" cy="35560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Descriptive Analysis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61B659-04ED-09B4-C692-A97108E753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935" r="-2" b="5608"/>
          <a:stretch/>
        </p:blipFill>
        <p:spPr>
          <a:xfrm>
            <a:off x="8286430" y="860498"/>
            <a:ext cx="2998699" cy="144143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E9DFA01-9806-D832-5FE2-BB87FD6C9670}"/>
              </a:ext>
            </a:extLst>
          </p:cNvPr>
          <p:cNvSpPr txBox="1"/>
          <p:nvPr/>
        </p:nvSpPr>
        <p:spPr>
          <a:xfrm>
            <a:off x="4905052" y="4665824"/>
            <a:ext cx="6483958" cy="16940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300" dirty="0"/>
              <a:t>Chart 1: There’s a clear imbalance in the dataset, with a significantly higher count of survivors (hospital death = 0) compared to deaths (hospital death = 1). 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300" dirty="0"/>
              <a:t>Chart 2: Gender distribution does not show a significant difference in survival rates.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300" dirty="0"/>
              <a:t>Chart 3: The Respiratory and Sepsis categories show high mortality rates, which might be critical areas of focus for healthcare interventions.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300" dirty="0"/>
              <a:t>Chart 4: Highlight that the Neurologic, Respiratory, and Cardiovascular systems have the highest counts, with a significant portion of deaths associated with these systems.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A831A5D-19B6-C06C-C1BE-E616DF3DC4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0652" y="607898"/>
            <a:ext cx="3291852" cy="169403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49672C3-1E61-E38C-496C-5195C64730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0652" y="2301930"/>
            <a:ext cx="3291852" cy="195417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31D3896-DE45-A9C6-DC35-287D153290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7526" y="2301930"/>
            <a:ext cx="3416506" cy="1954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5296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F2BF5-99F9-6863-FE48-1915D5F4E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9CE881A-9A37-AE94-F3CB-AFEEFE9AD20F}"/>
              </a:ext>
            </a:extLst>
          </p:cNvPr>
          <p:cNvSpPr txBox="1"/>
          <p:nvPr/>
        </p:nvSpPr>
        <p:spPr>
          <a:xfrm>
            <a:off x="511277" y="442452"/>
            <a:ext cx="77674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tx2">
                    <a:lumMod val="75000"/>
                  </a:schemeClr>
                </a:solidFill>
              </a:rPr>
              <a:t>Principal Component Analysis</a:t>
            </a:r>
            <a:endParaRPr lang="en-US" sz="2000" b="1" dirty="0"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451E14A-9B01-CFBC-42EB-ECBC7B6914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6920" y="3277074"/>
            <a:ext cx="3661841" cy="31103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5A34812-0E6D-6393-A387-E8117BB696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277" y="3429000"/>
            <a:ext cx="3982065" cy="250937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2C93C4C-E98A-355F-985F-0BC87E9212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8382" y="3179249"/>
            <a:ext cx="3409741" cy="330601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9DDC29C-EC78-F54C-AE06-8A5F66AFE4C6}"/>
              </a:ext>
            </a:extLst>
          </p:cNvPr>
          <p:cNvSpPr txBox="1"/>
          <p:nvPr/>
        </p:nvSpPr>
        <p:spPr>
          <a:xfrm>
            <a:off x="612949" y="1095270"/>
            <a:ext cx="400397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The first few principal components (e.g., Dim 1 and Dim 2) explain the majority of the variance, with Dim 1 contributing over 15%. The curve shows a sharp drop (elbow) after the first few dimensions, indicating diminishing returns in variance explained. Components beyond approximately 5 dimensions contribute minimally to the overall variance, suggesting they can be discarded for dimensionality reduction.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70208F-DD89-2859-E4F6-9E20CAF73CF7}"/>
              </a:ext>
            </a:extLst>
          </p:cNvPr>
          <p:cNvSpPr txBox="1"/>
          <p:nvPr/>
        </p:nvSpPr>
        <p:spPr>
          <a:xfrm>
            <a:off x="4736542" y="1095270"/>
            <a:ext cx="3542219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/>
              <a:t>Dim 1 (17.36%) and Dim 2 (7.88%) capture most variance. Vital signs (h1_sysbp_max, h1_mbp_max) show strong correlation. Variables like apache_4a_hospital_death_prob and </a:t>
            </a:r>
            <a:r>
              <a:rPr lang="en-US" sz="1300" dirty="0" err="1"/>
              <a:t>ventilated_apache</a:t>
            </a:r>
            <a:r>
              <a:rPr lang="en-US" sz="1300" dirty="0"/>
              <a:t> dominate Dim 1. Central scatter reflects less influential or balanced variables. Opposite directions (e.g., d1_temp_min vs. </a:t>
            </a:r>
            <a:r>
              <a:rPr lang="en-US" sz="1300" dirty="0" err="1"/>
              <a:t>solid_tumor_with_metastasis</a:t>
            </a:r>
            <a:r>
              <a:rPr lang="en-US" sz="1300" dirty="0"/>
              <a:t>) indicate negative correlation.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336D24A-23CA-15D7-EE70-DD09635E4B5A}"/>
              </a:ext>
            </a:extLst>
          </p:cNvPr>
          <p:cNvSpPr txBox="1"/>
          <p:nvPr/>
        </p:nvSpPr>
        <p:spPr>
          <a:xfrm>
            <a:off x="8332142" y="1095270"/>
            <a:ext cx="3542219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Variables are clustered together in the center of the graph. Variables are also spread out towards the edges of the graph. The graph has a circular grid in the background. The axes are labeled "Dim 1" and "Dim 2" with corresponding percentages</a:t>
            </a:r>
          </a:p>
        </p:txBody>
      </p:sp>
    </p:spTree>
    <p:extLst>
      <p:ext uri="{BB962C8B-B14F-4D97-AF65-F5344CB8AC3E}">
        <p14:creationId xmlns:p14="http://schemas.microsoft.com/office/powerpoint/2010/main" val="32205249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8B8D69-7333-6D66-F9C0-A1893E0B3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A16B2A72-6CFD-CDF6-B23B-C619FF317C57}"/>
              </a:ext>
            </a:extLst>
          </p:cNvPr>
          <p:cNvSpPr txBox="1"/>
          <p:nvPr/>
        </p:nvSpPr>
        <p:spPr>
          <a:xfrm>
            <a:off x="571244" y="1237675"/>
            <a:ext cx="5524756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Uniqueness's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Low uniqueness: Variables well-explained by factors (e.g., </a:t>
            </a:r>
            <a:r>
              <a:rPr lang="en-US" sz="1600" dirty="0" err="1"/>
              <a:t>apache</a:t>
            </a:r>
            <a:r>
              <a:rPr lang="en-US" sz="1600" dirty="0"/>
              <a:t> post operative = 0.022, </a:t>
            </a:r>
            <a:r>
              <a:rPr lang="en-US" sz="1600" dirty="0" err="1"/>
              <a:t>gcs</a:t>
            </a:r>
            <a:r>
              <a:rPr lang="en-US" sz="1600" dirty="0"/>
              <a:t> motor </a:t>
            </a:r>
            <a:r>
              <a:rPr lang="en-US" sz="1600" dirty="0" err="1"/>
              <a:t>apache</a:t>
            </a:r>
            <a:r>
              <a:rPr lang="en-US" sz="1600" dirty="0"/>
              <a:t> = 0.257).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High uniqueness: Variables poorly explained by factors (e.g., arf </a:t>
            </a:r>
            <a:r>
              <a:rPr lang="en-US" sz="1600" dirty="0" err="1"/>
              <a:t>apache</a:t>
            </a:r>
            <a:r>
              <a:rPr lang="en-US" sz="1600" dirty="0"/>
              <a:t> = 0.992, weight = 0.804).</a:t>
            </a:r>
          </a:p>
          <a:p>
            <a:endParaRPr lang="en-US" sz="1600" dirty="0"/>
          </a:p>
          <a:p>
            <a:r>
              <a:rPr lang="en-US" sz="1600" b="1" dirty="0"/>
              <a:t>Factor Loadings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Strong loadings indicate strong relationships: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Elective surgery: Factor 2 (0.916).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Height: Factor 7 (0.948).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Apache post operative: Factor 2 (0.971).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Gcs</a:t>
            </a:r>
            <a:r>
              <a:rPr lang="en-US" sz="1600" dirty="0"/>
              <a:t> eyes </a:t>
            </a:r>
            <a:r>
              <a:rPr lang="en-US" sz="1600" dirty="0" err="1"/>
              <a:t>apache</a:t>
            </a:r>
            <a:r>
              <a:rPr lang="en-US" sz="1600" dirty="0"/>
              <a:t>: Factor 1 (-0.870).</a:t>
            </a:r>
          </a:p>
          <a:p>
            <a:pPr lvl="1"/>
            <a:endParaRPr lang="en-US" sz="1600" dirty="0"/>
          </a:p>
          <a:p>
            <a:r>
              <a:rPr lang="en-US" sz="1600" b="1" dirty="0"/>
              <a:t>Variance Explained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Factor 1: Explains 7.2%.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Factor 2: Explains 6.8%.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Cumulative variance (10 factors): 42%.</a:t>
            </a:r>
          </a:p>
          <a:p>
            <a:endParaRPr lang="en-US" sz="1600" dirty="0"/>
          </a:p>
          <a:p>
            <a:r>
              <a:rPr lang="en-US" sz="1600" b="1" dirty="0"/>
              <a:t>Model Fit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Chi-square statistic: 160,350.9 (</a:t>
            </a:r>
            <a:r>
              <a:rPr lang="en-US" sz="1600" dirty="0" err="1"/>
              <a:t>df</a:t>
            </a:r>
            <a:r>
              <a:rPr lang="en-US" sz="1600" dirty="0"/>
              <a:t> = 693).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P-value near 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B46C89-5990-3217-74FD-7F4753738D51}"/>
              </a:ext>
            </a:extLst>
          </p:cNvPr>
          <p:cNvSpPr txBox="1"/>
          <p:nvPr/>
        </p:nvSpPr>
        <p:spPr>
          <a:xfrm>
            <a:off x="6440129" y="1237675"/>
            <a:ext cx="5407742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Uniqueness's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Low uniqueness</a:t>
            </a:r>
            <a:r>
              <a:rPr lang="en-US" sz="1400" dirty="0"/>
              <a:t>: Well-explained by factors (e.g., </a:t>
            </a:r>
            <a:r>
              <a:rPr lang="en-US" sz="1400" dirty="0" err="1"/>
              <a:t>apache</a:t>
            </a:r>
            <a:r>
              <a:rPr lang="en-US" sz="1400" dirty="0"/>
              <a:t> post operative = 0.022, </a:t>
            </a:r>
            <a:r>
              <a:rPr lang="en-US" sz="1400" dirty="0" err="1"/>
              <a:t>gcs</a:t>
            </a:r>
            <a:r>
              <a:rPr lang="en-US" sz="1400" dirty="0"/>
              <a:t> motor </a:t>
            </a:r>
            <a:r>
              <a:rPr lang="en-US" sz="1400" dirty="0" err="1"/>
              <a:t>apache</a:t>
            </a:r>
            <a:r>
              <a:rPr lang="en-US" sz="1400" dirty="0"/>
              <a:t> = 0.257).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High uniqueness</a:t>
            </a:r>
            <a:r>
              <a:rPr lang="en-US" sz="1400" dirty="0"/>
              <a:t>: Poorly explained by factors (e.g., arf </a:t>
            </a:r>
            <a:r>
              <a:rPr lang="en-US" sz="1400" dirty="0" err="1"/>
              <a:t>apache</a:t>
            </a:r>
            <a:r>
              <a:rPr lang="en-US" sz="1400" dirty="0"/>
              <a:t> = 0.992, weight = 0.804).</a:t>
            </a:r>
          </a:p>
          <a:p>
            <a:endParaRPr lang="en-US" sz="1400" dirty="0"/>
          </a:p>
          <a:p>
            <a:r>
              <a:rPr lang="en-US" sz="1400" b="1" dirty="0"/>
              <a:t>Factor Loadings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Promax allows correlated factors, resulting in higher loadings: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Elective surgery: Factor 2 (0.934).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Height: Factor 7 (0.961).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Gcs</a:t>
            </a:r>
            <a:r>
              <a:rPr lang="en-US" sz="1400" dirty="0"/>
              <a:t> eyes </a:t>
            </a:r>
            <a:r>
              <a:rPr lang="en-US" sz="1400" dirty="0" err="1"/>
              <a:t>apache</a:t>
            </a:r>
            <a:r>
              <a:rPr lang="en-US" sz="1400" dirty="0"/>
              <a:t>: Factor 1 (-0.951).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Gcs</a:t>
            </a:r>
            <a:r>
              <a:rPr lang="en-US" sz="1400" dirty="0"/>
              <a:t> motor </a:t>
            </a:r>
            <a:r>
              <a:rPr lang="en-US" sz="1400" dirty="0" err="1"/>
              <a:t>apache</a:t>
            </a:r>
            <a:r>
              <a:rPr lang="en-US" sz="1400" dirty="0"/>
              <a:t>: Factor 1 (-0.890).</a:t>
            </a:r>
          </a:p>
          <a:p>
            <a:pPr lvl="1"/>
            <a:endParaRPr lang="en-US" sz="1400" dirty="0"/>
          </a:p>
          <a:p>
            <a:r>
              <a:rPr lang="en-US" sz="1400" b="1" dirty="0"/>
              <a:t>Variance Explained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Factor 1: 5.9%.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Factor 2: 5.8%.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Cumulative (10 factors): 41.9% (slightly lower than Varimax).</a:t>
            </a:r>
          </a:p>
          <a:p>
            <a:endParaRPr lang="en-US" sz="1400" dirty="0"/>
          </a:p>
          <a:p>
            <a:r>
              <a:rPr lang="en-US" sz="1400" b="1" dirty="0"/>
              <a:t>Factor Correlations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Notable correlations: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Factor 1 and Factor 5: 0.577.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Factor 7 and Factor 8: 0.239.</a:t>
            </a:r>
          </a:p>
          <a:p>
            <a:pPr lvl="1"/>
            <a:endParaRPr lang="en-US" sz="1400" dirty="0"/>
          </a:p>
          <a:p>
            <a:r>
              <a:rPr lang="en-US" sz="1400" b="1" dirty="0"/>
              <a:t>Model Fit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Chi-square statistic: 160,350.9 (p-value = 0).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B6E25E-EEF7-4D57-68CE-B09FCE481EEE}"/>
              </a:ext>
            </a:extLst>
          </p:cNvPr>
          <p:cNvSpPr txBox="1"/>
          <p:nvPr/>
        </p:nvSpPr>
        <p:spPr>
          <a:xfrm>
            <a:off x="511277" y="442452"/>
            <a:ext cx="77674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tx2">
                    <a:lumMod val="75000"/>
                  </a:schemeClr>
                </a:solidFill>
              </a:rPr>
              <a:t>Factor</a:t>
            </a:r>
            <a:r>
              <a:rPr lang="en-US" sz="2800" b="1" dirty="0"/>
              <a:t> Analysis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0198334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FF6031-05AF-3367-1DFA-2B6428240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807418-FAE4-5CF9-775F-760D0BCE2E15}"/>
              </a:ext>
            </a:extLst>
          </p:cNvPr>
          <p:cNvSpPr txBox="1"/>
          <p:nvPr/>
        </p:nvSpPr>
        <p:spPr>
          <a:xfrm>
            <a:off x="466722" y="586855"/>
            <a:ext cx="3201366" cy="33874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Regression Analysis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AED592-9C90-EB43-7AF9-A08E879ECEFD}"/>
              </a:ext>
            </a:extLst>
          </p:cNvPr>
          <p:cNvSpPr txBox="1"/>
          <p:nvPr/>
        </p:nvSpPr>
        <p:spPr>
          <a:xfrm>
            <a:off x="4810259" y="649480"/>
            <a:ext cx="6555347" cy="5546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/>
              <a:t>Residuals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/>
              <a:t>Range: -0.836 to 1.181 (symmetric with some outliers).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/>
              <a:t>Coefficients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/>
              <a:t>Significant Predictors (p &lt; 0.05):</a:t>
            </a:r>
            <a:endParaRPr lang="en-US" sz="1400"/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/>
              <a:t>Positive Effects</a:t>
            </a:r>
            <a:r>
              <a:rPr lang="en-US" sz="1400"/>
              <a:t>: Age, icu_admit_source, ventilated_apache, apache_4a_hospital_death_prob.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/>
              <a:t>Negative Effects</a:t>
            </a:r>
            <a:r>
              <a:rPr lang="en-US" sz="1400"/>
              <a:t>: Elective_surgery, weight, d1_sysbp_min, d1_temp_min, diabetes_mellitus.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/>
              <a:t>Largest Coefficients</a:t>
            </a:r>
            <a:r>
              <a:rPr lang="en-US" sz="1400"/>
              <a:t>: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/>
              <a:t>Apache_4a_hospital_death_prob (0.147).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/>
              <a:t>Apache_4a_icu_death_prob (0.140).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/>
              <a:t>Model Fit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/>
              <a:t>Residual Standard Error: 0.249.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/>
              <a:t>R-squared: 0.2115 (21.15% variance explained).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/>
              <a:t>Adjusted R-squared: 0.2107 (adjusted for predictors).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/>
              <a:t>F-statistic: 262.7 (p-value &lt; 2.2e-16, overall significance).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/>
              <a:t>Accuracy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/>
              <a:t>Predictive accuracy: 92.29%.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/>
              <a:t>Error Metrics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/>
              <a:t>RMSE: 0.2484 (average prediction error).</a:t>
            </a:r>
          </a:p>
        </p:txBody>
      </p:sp>
    </p:spTree>
    <p:extLst>
      <p:ext uri="{BB962C8B-B14F-4D97-AF65-F5344CB8AC3E}">
        <p14:creationId xmlns:p14="http://schemas.microsoft.com/office/powerpoint/2010/main" val="8121491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50D1C5B3-B60D-4696-AE60-100D5EC8AB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184EE59-3061-456B-9FB5-98A8E0E74B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7E07B5E-9FB5-4C91-8BE4-6167EB58D0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7524947-EB09-4DD9-973B-9F75BBCD7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30C8E25-2DD1-45C6-9F04-0F0CBF6660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BC57EA3C-C239-4132-A618-5CBE9F896B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0B75C9C-A30D-93BB-B2C8-EEC957EDBB3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32" r="2" b="5321"/>
          <a:stretch/>
        </p:blipFill>
        <p:spPr>
          <a:xfrm>
            <a:off x="4973805" y="857974"/>
            <a:ext cx="2998699" cy="144395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E0AA9AC-7F01-8953-2D12-374073ACDA3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1" r="2" b="7158"/>
          <a:stretch/>
        </p:blipFill>
        <p:spPr>
          <a:xfrm>
            <a:off x="8286430" y="862722"/>
            <a:ext cx="2998699" cy="143920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4A7047C-ACEE-3957-67E2-CB433C6725A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777" r="-3" b="5131"/>
          <a:stretch/>
        </p:blipFill>
        <p:spPr>
          <a:xfrm>
            <a:off x="4973805" y="2624071"/>
            <a:ext cx="2998699" cy="14445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C70CA06-5F2C-592A-BC38-945BC9F2F87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3636" r="-3" b="3128"/>
          <a:stretch/>
        </p:blipFill>
        <p:spPr>
          <a:xfrm>
            <a:off x="8286430" y="2624071"/>
            <a:ext cx="2998699" cy="143982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22091DA-C13D-4F27-BB2A-4058326DC169}"/>
              </a:ext>
            </a:extLst>
          </p:cNvPr>
          <p:cNvSpPr txBox="1"/>
          <p:nvPr/>
        </p:nvSpPr>
        <p:spPr>
          <a:xfrm>
            <a:off x="4905052" y="4665824"/>
            <a:ext cx="6483958" cy="16940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Mean(model$residual) = -7.78583e-18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Ad.test = p-value &lt; 2.2e-16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bp-test = p-value &lt; 2.2e-16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durbinWatsonTest: p-value &lt; 0.672</a:t>
            </a:r>
          </a:p>
        </p:txBody>
      </p:sp>
    </p:spTree>
    <p:extLst>
      <p:ext uri="{BB962C8B-B14F-4D97-AF65-F5344CB8AC3E}">
        <p14:creationId xmlns:p14="http://schemas.microsoft.com/office/powerpoint/2010/main" val="10279219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3F6F1-926E-9877-687E-EE7B3BA50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FAC32FB-7964-E8FC-ECA5-5E41130292F7}"/>
              </a:ext>
            </a:extLst>
          </p:cNvPr>
          <p:cNvSpPr txBox="1"/>
          <p:nvPr/>
        </p:nvSpPr>
        <p:spPr>
          <a:xfrm>
            <a:off x="437662" y="317682"/>
            <a:ext cx="77674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tx2">
                    <a:lumMod val="75000"/>
                  </a:schemeClr>
                </a:solidFill>
              </a:rPr>
              <a:t>Decision</a:t>
            </a:r>
            <a:r>
              <a:rPr lang="en-US" sz="2800" b="1" dirty="0"/>
              <a:t> Tree</a:t>
            </a:r>
            <a:endParaRPr lang="en-US" sz="20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640716-5666-8552-F340-8859A5E119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451" y="3972472"/>
            <a:ext cx="3853129" cy="244307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0F9E74B-F0F8-E3EF-6CCD-39EAFF4418F3}"/>
              </a:ext>
            </a:extLst>
          </p:cNvPr>
          <p:cNvSpPr txBox="1"/>
          <p:nvPr/>
        </p:nvSpPr>
        <p:spPr>
          <a:xfrm>
            <a:off x="586846" y="1180207"/>
            <a:ext cx="32187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CPART Decision Tree</a:t>
            </a:r>
          </a:p>
          <a:p>
            <a:r>
              <a:rPr lang="en-US" dirty="0"/>
              <a:t>Accuracy = 91.96%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88875AA-021A-00ED-969A-8A5F9404AA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0116404"/>
              </p:ext>
            </p:extLst>
          </p:nvPr>
        </p:nvGraphicFramePr>
        <p:xfrm>
          <a:off x="437662" y="2167985"/>
          <a:ext cx="354919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3064">
                  <a:extLst>
                    <a:ext uri="{9D8B030D-6E8A-4147-A177-3AD203B41FA5}">
                      <a16:colId xmlns:a16="http://schemas.microsoft.com/office/drawing/2014/main" val="337840811"/>
                    </a:ext>
                  </a:extLst>
                </a:gridCol>
                <a:gridCol w="1183064">
                  <a:extLst>
                    <a:ext uri="{9D8B030D-6E8A-4147-A177-3AD203B41FA5}">
                      <a16:colId xmlns:a16="http://schemas.microsoft.com/office/drawing/2014/main" val="966918357"/>
                    </a:ext>
                  </a:extLst>
                </a:gridCol>
                <a:gridCol w="1183064">
                  <a:extLst>
                    <a:ext uri="{9D8B030D-6E8A-4147-A177-3AD203B41FA5}">
                      <a16:colId xmlns:a16="http://schemas.microsoft.com/office/drawing/2014/main" val="68738205"/>
                    </a:ext>
                  </a:extLst>
                </a:gridCol>
              </a:tblGrid>
              <a:tr h="36083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5880539"/>
                  </a:ext>
                </a:extLst>
              </a:tr>
              <a:tr h="360835">
                <a:tc>
                  <a:txBody>
                    <a:bodyPr/>
                    <a:lstStyle/>
                    <a:p>
                      <a:r>
                        <a:rPr lang="en-US" dirty="0"/>
                        <a:t>Predicted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0042874"/>
                  </a:ext>
                </a:extLst>
              </a:tr>
              <a:tr h="360835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10370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0711483"/>
                  </a:ext>
                </a:extLst>
              </a:tr>
              <a:tr h="360835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527619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59019C36-D714-5815-4169-12206B1B51E8}"/>
              </a:ext>
            </a:extLst>
          </p:cNvPr>
          <p:cNvSpPr txBox="1"/>
          <p:nvPr/>
        </p:nvSpPr>
        <p:spPr>
          <a:xfrm>
            <a:off x="4472484" y="1251695"/>
            <a:ext cx="30418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C5.0 Decision Tree</a:t>
            </a:r>
          </a:p>
          <a:p>
            <a:r>
              <a:rPr lang="en-US" dirty="0"/>
              <a:t>Accuracy = 92.02%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43C551-A904-5688-BD02-23CD3CC69F1F}"/>
              </a:ext>
            </a:extLst>
          </p:cNvPr>
          <p:cNvSpPr txBox="1"/>
          <p:nvPr/>
        </p:nvSpPr>
        <p:spPr>
          <a:xfrm>
            <a:off x="8181218" y="1251695"/>
            <a:ext cx="34030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C50 Pruned Decision Tree</a:t>
            </a:r>
          </a:p>
          <a:p>
            <a:r>
              <a:rPr lang="en-US" dirty="0"/>
              <a:t>Accuracy = 91.94%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8BC75055-BA4C-546E-85B5-208F5FC9C6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236170"/>
              </p:ext>
            </p:extLst>
          </p:nvPr>
        </p:nvGraphicFramePr>
        <p:xfrm>
          <a:off x="4309438" y="2189651"/>
          <a:ext cx="3573123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1041">
                  <a:extLst>
                    <a:ext uri="{9D8B030D-6E8A-4147-A177-3AD203B41FA5}">
                      <a16:colId xmlns:a16="http://schemas.microsoft.com/office/drawing/2014/main" val="1591693375"/>
                    </a:ext>
                  </a:extLst>
                </a:gridCol>
                <a:gridCol w="1191041">
                  <a:extLst>
                    <a:ext uri="{9D8B030D-6E8A-4147-A177-3AD203B41FA5}">
                      <a16:colId xmlns:a16="http://schemas.microsoft.com/office/drawing/2014/main" val="655003678"/>
                    </a:ext>
                  </a:extLst>
                </a:gridCol>
                <a:gridCol w="1191041">
                  <a:extLst>
                    <a:ext uri="{9D8B030D-6E8A-4147-A177-3AD203B41FA5}">
                      <a16:colId xmlns:a16="http://schemas.microsoft.com/office/drawing/2014/main" val="25565474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71517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Predicted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79302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10331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82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5162725"/>
                  </a:ext>
                </a:extLst>
              </a:tr>
            </a:tbl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702E53A7-F591-395C-E60D-BC26BB6022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8582" y="4056636"/>
            <a:ext cx="3881355" cy="2443076"/>
          </a:xfrm>
          <a:prstGeom prst="rect">
            <a:avLst/>
          </a:prstGeom>
        </p:spPr>
      </p:pic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6F15DB5A-B7D1-140B-FE5B-4B2E389E73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7514549"/>
              </p:ext>
            </p:extLst>
          </p:nvPr>
        </p:nvGraphicFramePr>
        <p:xfrm>
          <a:off x="8205146" y="2174931"/>
          <a:ext cx="3573123" cy="14651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1041">
                  <a:extLst>
                    <a:ext uri="{9D8B030D-6E8A-4147-A177-3AD203B41FA5}">
                      <a16:colId xmlns:a16="http://schemas.microsoft.com/office/drawing/2014/main" val="2733889269"/>
                    </a:ext>
                  </a:extLst>
                </a:gridCol>
                <a:gridCol w="1191041">
                  <a:extLst>
                    <a:ext uri="{9D8B030D-6E8A-4147-A177-3AD203B41FA5}">
                      <a16:colId xmlns:a16="http://schemas.microsoft.com/office/drawing/2014/main" val="3719375587"/>
                    </a:ext>
                  </a:extLst>
                </a:gridCol>
                <a:gridCol w="1191041">
                  <a:extLst>
                    <a:ext uri="{9D8B030D-6E8A-4147-A177-3AD203B41FA5}">
                      <a16:colId xmlns:a16="http://schemas.microsoft.com/office/drawing/2014/main" val="4248994790"/>
                    </a:ext>
                  </a:extLst>
                </a:gridCol>
              </a:tblGrid>
              <a:tr h="36629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3312063"/>
                  </a:ext>
                </a:extLst>
              </a:tr>
              <a:tr h="366296">
                <a:tc>
                  <a:txBody>
                    <a:bodyPr/>
                    <a:lstStyle/>
                    <a:p>
                      <a:r>
                        <a:rPr lang="en-US" dirty="0"/>
                        <a:t>Predicted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5521641"/>
                  </a:ext>
                </a:extLst>
              </a:tr>
              <a:tr h="366296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10412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7860581"/>
                  </a:ext>
                </a:extLst>
              </a:tr>
              <a:tr h="366296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179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5851896"/>
                  </a:ext>
                </a:extLst>
              </a:tr>
            </a:tbl>
          </a:graphicData>
        </a:graphic>
      </p:graphicFrame>
      <p:pic>
        <p:nvPicPr>
          <p:cNvPr id="15" name="Picture 14">
            <a:extLst>
              <a:ext uri="{FF2B5EF4-FFF2-40B4-BE49-F238E27FC236}">
                <a16:creationId xmlns:a16="http://schemas.microsoft.com/office/drawing/2014/main" id="{12DA6456-1B5A-3DA4-1898-9F0C3BF599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9938" y="3972472"/>
            <a:ext cx="4088996" cy="2520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7062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49C665-F76A-72FF-4283-7F0EC56BC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E229FC9-99DA-9060-5EB7-293D323145D2}"/>
              </a:ext>
            </a:extLst>
          </p:cNvPr>
          <p:cNvSpPr txBox="1"/>
          <p:nvPr/>
        </p:nvSpPr>
        <p:spPr>
          <a:xfrm>
            <a:off x="360517" y="1316333"/>
            <a:ext cx="35330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CI Decision Tree</a:t>
            </a:r>
          </a:p>
          <a:p>
            <a:r>
              <a:rPr lang="en-US" dirty="0"/>
              <a:t>Accuracy = 92.07%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F1EF600-7373-30EF-6DE9-9D0A0C95AA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6327010"/>
              </p:ext>
            </p:extLst>
          </p:nvPr>
        </p:nvGraphicFramePr>
        <p:xfrm>
          <a:off x="360516" y="2174840"/>
          <a:ext cx="353305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7686">
                  <a:extLst>
                    <a:ext uri="{9D8B030D-6E8A-4147-A177-3AD203B41FA5}">
                      <a16:colId xmlns:a16="http://schemas.microsoft.com/office/drawing/2014/main" val="3336702002"/>
                    </a:ext>
                  </a:extLst>
                </a:gridCol>
                <a:gridCol w="1177686">
                  <a:extLst>
                    <a:ext uri="{9D8B030D-6E8A-4147-A177-3AD203B41FA5}">
                      <a16:colId xmlns:a16="http://schemas.microsoft.com/office/drawing/2014/main" val="636821027"/>
                    </a:ext>
                  </a:extLst>
                </a:gridCol>
                <a:gridCol w="1177686">
                  <a:extLst>
                    <a:ext uri="{9D8B030D-6E8A-4147-A177-3AD203B41FA5}">
                      <a16:colId xmlns:a16="http://schemas.microsoft.com/office/drawing/2014/main" val="29668962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49581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Predicted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46142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10417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5683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3631660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0250383F-A2BA-90C3-5EDC-928C16AE85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1605" y="0"/>
            <a:ext cx="7650395" cy="3429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0C10ADD-2B64-7899-EC30-F274BC0510E4}"/>
              </a:ext>
            </a:extLst>
          </p:cNvPr>
          <p:cNvSpPr txBox="1"/>
          <p:nvPr/>
        </p:nvSpPr>
        <p:spPr>
          <a:xfrm>
            <a:off x="360516" y="4143660"/>
            <a:ext cx="35330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CI Pruned Decision Tree</a:t>
            </a:r>
          </a:p>
          <a:p>
            <a:r>
              <a:rPr lang="en-US" dirty="0"/>
              <a:t>Accuracy = 91.96% (Final Model)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662507A-DD09-3BA5-B77F-26ADEF1E06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7297392"/>
              </p:ext>
            </p:extLst>
          </p:nvPr>
        </p:nvGraphicFramePr>
        <p:xfrm>
          <a:off x="360516" y="5157323"/>
          <a:ext cx="3533058" cy="1514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7686">
                  <a:extLst>
                    <a:ext uri="{9D8B030D-6E8A-4147-A177-3AD203B41FA5}">
                      <a16:colId xmlns:a16="http://schemas.microsoft.com/office/drawing/2014/main" val="634773712"/>
                    </a:ext>
                  </a:extLst>
                </a:gridCol>
                <a:gridCol w="1177686">
                  <a:extLst>
                    <a:ext uri="{9D8B030D-6E8A-4147-A177-3AD203B41FA5}">
                      <a16:colId xmlns:a16="http://schemas.microsoft.com/office/drawing/2014/main" val="2313740432"/>
                    </a:ext>
                  </a:extLst>
                </a:gridCol>
                <a:gridCol w="1177686">
                  <a:extLst>
                    <a:ext uri="{9D8B030D-6E8A-4147-A177-3AD203B41FA5}">
                      <a16:colId xmlns:a16="http://schemas.microsoft.com/office/drawing/2014/main" val="2532051366"/>
                    </a:ext>
                  </a:extLst>
                </a:gridCol>
              </a:tblGrid>
              <a:tr h="37869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0488183"/>
                  </a:ext>
                </a:extLst>
              </a:tr>
              <a:tr h="378692">
                <a:tc>
                  <a:txBody>
                    <a:bodyPr/>
                    <a:lstStyle/>
                    <a:p>
                      <a:r>
                        <a:rPr lang="en-US" dirty="0"/>
                        <a:t>Predicted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1258080"/>
                  </a:ext>
                </a:extLst>
              </a:tr>
              <a:tr h="378692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10370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1973053"/>
                  </a:ext>
                </a:extLst>
              </a:tr>
              <a:tr h="378692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4624224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9D7C39D5-563A-DB6F-0C6C-46156476D1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1605" y="3429000"/>
            <a:ext cx="7513645" cy="3429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0BD4FE9-10E0-1034-63C1-7EB171F6D37F}"/>
              </a:ext>
            </a:extLst>
          </p:cNvPr>
          <p:cNvSpPr txBox="1"/>
          <p:nvPr/>
        </p:nvSpPr>
        <p:spPr>
          <a:xfrm>
            <a:off x="437662" y="317682"/>
            <a:ext cx="77674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Decision Tree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4295602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54C46D-2D4C-B61E-856E-40DA2EA80938}"/>
              </a:ext>
            </a:extLst>
          </p:cNvPr>
          <p:cNvSpPr txBox="1"/>
          <p:nvPr/>
        </p:nvSpPr>
        <p:spPr>
          <a:xfrm>
            <a:off x="699713" y="248038"/>
            <a:ext cx="7063721" cy="1159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Final Model – Decision Tree</a:t>
            </a:r>
          </a:p>
        </p:txBody>
      </p:sp>
      <p:pic>
        <p:nvPicPr>
          <p:cNvPr id="4" name="Picture 3" descr="A diagram of a diagram&#10;&#10;Description automatically generated">
            <a:extLst>
              <a:ext uri="{FF2B5EF4-FFF2-40B4-BE49-F238E27FC236}">
                <a16:creationId xmlns:a16="http://schemas.microsoft.com/office/drawing/2014/main" id="{A29314A2-363C-6620-C410-CC067BB287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5077" y="1966293"/>
            <a:ext cx="8561844" cy="44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2556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1BF6FCE-59BC-98A5-AE4D-D8216B9CA208}"/>
              </a:ext>
            </a:extLst>
          </p:cNvPr>
          <p:cNvSpPr txBox="1"/>
          <p:nvPr/>
        </p:nvSpPr>
        <p:spPr>
          <a:xfrm>
            <a:off x="437662" y="317682"/>
            <a:ext cx="77674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tx2">
                    <a:lumMod val="75000"/>
                  </a:schemeClr>
                </a:solidFill>
              </a:rPr>
              <a:t>K- Nearest </a:t>
            </a:r>
            <a:r>
              <a:rPr lang="en-US" sz="2800" b="1" dirty="0" err="1">
                <a:solidFill>
                  <a:schemeClr val="tx2">
                    <a:lumMod val="75000"/>
                  </a:schemeClr>
                </a:solidFill>
              </a:rPr>
              <a:t>Neighbour</a:t>
            </a:r>
            <a:endParaRPr lang="en-US" sz="2000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BA8494-7200-ADF8-489B-620A546DA08B}"/>
              </a:ext>
            </a:extLst>
          </p:cNvPr>
          <p:cNvSpPr txBox="1"/>
          <p:nvPr/>
        </p:nvSpPr>
        <p:spPr>
          <a:xfrm>
            <a:off x="437662" y="929578"/>
            <a:ext cx="26350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 = 7</a:t>
            </a:r>
          </a:p>
          <a:p>
            <a:r>
              <a:rPr lang="en-US" dirty="0"/>
              <a:t>Accuracy: 92.10%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C4F3A57E-AF01-728F-60CF-B2EA0D8073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2924139"/>
              </p:ext>
            </p:extLst>
          </p:nvPr>
        </p:nvGraphicFramePr>
        <p:xfrm>
          <a:off x="437662" y="1664585"/>
          <a:ext cx="3687096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9032">
                  <a:extLst>
                    <a:ext uri="{9D8B030D-6E8A-4147-A177-3AD203B41FA5}">
                      <a16:colId xmlns:a16="http://schemas.microsoft.com/office/drawing/2014/main" val="362172285"/>
                    </a:ext>
                  </a:extLst>
                </a:gridCol>
                <a:gridCol w="1229032">
                  <a:extLst>
                    <a:ext uri="{9D8B030D-6E8A-4147-A177-3AD203B41FA5}">
                      <a16:colId xmlns:a16="http://schemas.microsoft.com/office/drawing/2014/main" val="1485271558"/>
                    </a:ext>
                  </a:extLst>
                </a:gridCol>
                <a:gridCol w="1229032">
                  <a:extLst>
                    <a:ext uri="{9D8B030D-6E8A-4147-A177-3AD203B41FA5}">
                      <a16:colId xmlns:a16="http://schemas.microsoft.com/office/drawing/2014/main" val="37682322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36009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Preducted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11965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10437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5877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173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4368973"/>
                  </a:ext>
                </a:extLst>
              </a:tr>
            </a:tbl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315C5B80-BD8E-513A-445E-D44F9001DC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3381" y="74535"/>
            <a:ext cx="6528619" cy="335446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123853C-F272-9483-70C3-7B35891C4510}"/>
              </a:ext>
            </a:extLst>
          </p:cNvPr>
          <p:cNvSpPr txBox="1"/>
          <p:nvPr/>
        </p:nvSpPr>
        <p:spPr>
          <a:xfrm>
            <a:off x="437661" y="3805404"/>
            <a:ext cx="26350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 = 13</a:t>
            </a:r>
          </a:p>
          <a:p>
            <a:r>
              <a:rPr lang="en-US" dirty="0"/>
              <a:t>Accuracy: 92.10%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52F096FB-8B47-34E2-8523-45CDBA1E99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3749718"/>
              </p:ext>
            </p:extLst>
          </p:nvPr>
        </p:nvGraphicFramePr>
        <p:xfrm>
          <a:off x="437662" y="4540411"/>
          <a:ext cx="3687096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9032">
                  <a:extLst>
                    <a:ext uri="{9D8B030D-6E8A-4147-A177-3AD203B41FA5}">
                      <a16:colId xmlns:a16="http://schemas.microsoft.com/office/drawing/2014/main" val="362172285"/>
                    </a:ext>
                  </a:extLst>
                </a:gridCol>
                <a:gridCol w="1229032">
                  <a:extLst>
                    <a:ext uri="{9D8B030D-6E8A-4147-A177-3AD203B41FA5}">
                      <a16:colId xmlns:a16="http://schemas.microsoft.com/office/drawing/2014/main" val="1485271558"/>
                    </a:ext>
                  </a:extLst>
                </a:gridCol>
                <a:gridCol w="1229032">
                  <a:extLst>
                    <a:ext uri="{9D8B030D-6E8A-4147-A177-3AD203B41FA5}">
                      <a16:colId xmlns:a16="http://schemas.microsoft.com/office/drawing/2014/main" val="37682322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36009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Predicted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11965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10481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837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5877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147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4368973"/>
                  </a:ext>
                </a:extLst>
              </a:tr>
            </a:tbl>
          </a:graphicData>
        </a:graphic>
      </p:graphicFrame>
      <p:pic>
        <p:nvPicPr>
          <p:cNvPr id="18" name="Picture 17">
            <a:extLst>
              <a:ext uri="{FF2B5EF4-FFF2-40B4-BE49-F238E27FC236}">
                <a16:creationId xmlns:a16="http://schemas.microsoft.com/office/drawing/2014/main" id="{2B43D2BC-CEFD-763E-DBB0-FE400E1D8F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6365" y="3429000"/>
            <a:ext cx="6692608" cy="3431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2982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675C31-37E9-3D37-88FC-5A4EB3475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69D47016-023F-44BD-981C-50E7A10A6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95D923-B307-81EA-CB6A-DADFDD626CE8}"/>
              </a:ext>
            </a:extLst>
          </p:cNvPr>
          <p:cNvSpPr txBox="1"/>
          <p:nvPr/>
        </p:nvSpPr>
        <p:spPr>
          <a:xfrm>
            <a:off x="630936" y="457200"/>
            <a:ext cx="4343400" cy="19293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b="1" dirty="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rPr>
              <a:t>Final Model - KNN</a:t>
            </a:r>
          </a:p>
        </p:txBody>
      </p:sp>
      <p:sp>
        <p:nvSpPr>
          <p:cNvPr id="22" name="sketchy line">
            <a:extLst>
              <a:ext uri="{FF2B5EF4-FFF2-40B4-BE49-F238E27FC236}">
                <a16:creationId xmlns:a16="http://schemas.microsoft.com/office/drawing/2014/main" id="{6D8B37B0-0682-433E-BC8D-498C04ABD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471415" y="1412748"/>
            <a:ext cx="1554480" cy="18288"/>
          </a:xfrm>
          <a:custGeom>
            <a:avLst/>
            <a:gdLst>
              <a:gd name="connsiteX0" fmla="*/ 0 w 1554480"/>
              <a:gd name="connsiteY0" fmla="*/ 0 h 18288"/>
              <a:gd name="connsiteX1" fmla="*/ 549250 w 1554480"/>
              <a:gd name="connsiteY1" fmla="*/ 0 h 18288"/>
              <a:gd name="connsiteX2" fmla="*/ 1082954 w 1554480"/>
              <a:gd name="connsiteY2" fmla="*/ 0 h 18288"/>
              <a:gd name="connsiteX3" fmla="*/ 1554480 w 1554480"/>
              <a:gd name="connsiteY3" fmla="*/ 0 h 18288"/>
              <a:gd name="connsiteX4" fmla="*/ 1554480 w 1554480"/>
              <a:gd name="connsiteY4" fmla="*/ 18288 h 18288"/>
              <a:gd name="connsiteX5" fmla="*/ 1067410 w 1554480"/>
              <a:gd name="connsiteY5" fmla="*/ 18288 h 18288"/>
              <a:gd name="connsiteX6" fmla="*/ 549250 w 1554480"/>
              <a:gd name="connsiteY6" fmla="*/ 18288 h 18288"/>
              <a:gd name="connsiteX7" fmla="*/ 0 w 1554480"/>
              <a:gd name="connsiteY7" fmla="*/ 18288 h 18288"/>
              <a:gd name="connsiteX8" fmla="*/ 0 w 1554480"/>
              <a:gd name="connsiteY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860D21E-749E-8801-F6A6-2F29438ABDEF}"/>
              </a:ext>
            </a:extLst>
          </p:cNvPr>
          <p:cNvSpPr txBox="1"/>
          <p:nvPr/>
        </p:nvSpPr>
        <p:spPr>
          <a:xfrm>
            <a:off x="5541263" y="457200"/>
            <a:ext cx="6007608" cy="19293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K = 9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Accuracy: 92.20%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C05616C-CCC0-2B5C-12EF-59AC4EA096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3000893"/>
            <a:ext cx="5468112" cy="2816077"/>
          </a:xfrm>
          <a:prstGeom prst="rect">
            <a:avLst/>
          </a:prstGeom>
        </p:spPr>
      </p:pic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09FB07EC-3718-8D6A-56D6-45D7856A16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1112634"/>
              </p:ext>
            </p:extLst>
          </p:nvPr>
        </p:nvGraphicFramePr>
        <p:xfrm>
          <a:off x="6254496" y="2937141"/>
          <a:ext cx="5468113" cy="29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1486">
                  <a:extLst>
                    <a:ext uri="{9D8B030D-6E8A-4147-A177-3AD203B41FA5}">
                      <a16:colId xmlns:a16="http://schemas.microsoft.com/office/drawing/2014/main" val="3937115222"/>
                    </a:ext>
                  </a:extLst>
                </a:gridCol>
                <a:gridCol w="1853676">
                  <a:extLst>
                    <a:ext uri="{9D8B030D-6E8A-4147-A177-3AD203B41FA5}">
                      <a16:colId xmlns:a16="http://schemas.microsoft.com/office/drawing/2014/main" val="2131946737"/>
                    </a:ext>
                  </a:extLst>
                </a:gridCol>
                <a:gridCol w="1272951">
                  <a:extLst>
                    <a:ext uri="{9D8B030D-6E8A-4147-A177-3AD203B41FA5}">
                      <a16:colId xmlns:a16="http://schemas.microsoft.com/office/drawing/2014/main" val="3540321531"/>
                    </a:ext>
                  </a:extLst>
                </a:gridCol>
              </a:tblGrid>
              <a:tr h="735896">
                <a:tc>
                  <a:txBody>
                    <a:bodyPr/>
                    <a:lstStyle/>
                    <a:p>
                      <a:endParaRPr lang="en-US" sz="3300"/>
                    </a:p>
                  </a:txBody>
                  <a:tcPr marL="167249" marR="167249" marT="83624" marB="83624"/>
                </a:tc>
                <a:tc>
                  <a:txBody>
                    <a:bodyPr/>
                    <a:lstStyle/>
                    <a:p>
                      <a:r>
                        <a:rPr lang="en-US" sz="3300"/>
                        <a:t>Actual </a:t>
                      </a:r>
                    </a:p>
                  </a:txBody>
                  <a:tcPr marL="167249" marR="167249" marT="83624" marB="83624"/>
                </a:tc>
                <a:tc>
                  <a:txBody>
                    <a:bodyPr/>
                    <a:lstStyle/>
                    <a:p>
                      <a:endParaRPr lang="en-US" sz="3300"/>
                    </a:p>
                  </a:txBody>
                  <a:tcPr marL="167249" marR="167249" marT="83624" marB="83624"/>
                </a:tc>
                <a:extLst>
                  <a:ext uri="{0D108BD9-81ED-4DB2-BD59-A6C34878D82A}">
                    <a16:rowId xmlns:a16="http://schemas.microsoft.com/office/drawing/2014/main" val="945163209"/>
                  </a:ext>
                </a:extLst>
              </a:tr>
              <a:tr h="735896">
                <a:tc>
                  <a:txBody>
                    <a:bodyPr/>
                    <a:lstStyle/>
                    <a:p>
                      <a:r>
                        <a:rPr lang="en-US" sz="3300"/>
                        <a:t>Predicted</a:t>
                      </a:r>
                    </a:p>
                  </a:txBody>
                  <a:tcPr marL="167249" marR="167249" marT="83624" marB="83624"/>
                </a:tc>
                <a:tc>
                  <a:txBody>
                    <a:bodyPr/>
                    <a:lstStyle/>
                    <a:p>
                      <a:r>
                        <a:rPr lang="en-US" sz="3300"/>
                        <a:t>0</a:t>
                      </a:r>
                    </a:p>
                  </a:txBody>
                  <a:tcPr marL="167249" marR="167249" marT="83624" marB="83624"/>
                </a:tc>
                <a:tc>
                  <a:txBody>
                    <a:bodyPr/>
                    <a:lstStyle/>
                    <a:p>
                      <a:r>
                        <a:rPr lang="en-US" sz="3300"/>
                        <a:t>1</a:t>
                      </a:r>
                    </a:p>
                  </a:txBody>
                  <a:tcPr marL="167249" marR="167249" marT="83624" marB="83624"/>
                </a:tc>
                <a:extLst>
                  <a:ext uri="{0D108BD9-81ED-4DB2-BD59-A6C34878D82A}">
                    <a16:rowId xmlns:a16="http://schemas.microsoft.com/office/drawing/2014/main" val="4055117385"/>
                  </a:ext>
                </a:extLst>
              </a:tr>
              <a:tr h="735896">
                <a:tc>
                  <a:txBody>
                    <a:bodyPr/>
                    <a:lstStyle/>
                    <a:p>
                      <a:r>
                        <a:rPr lang="en-US" sz="3300"/>
                        <a:t>0</a:t>
                      </a:r>
                    </a:p>
                  </a:txBody>
                  <a:tcPr marL="167249" marR="167249" marT="83624" marB="83624"/>
                </a:tc>
                <a:tc>
                  <a:txBody>
                    <a:bodyPr/>
                    <a:lstStyle/>
                    <a:p>
                      <a:r>
                        <a:rPr lang="en-US" sz="3300"/>
                        <a:t>10450</a:t>
                      </a:r>
                    </a:p>
                  </a:txBody>
                  <a:tcPr marL="167249" marR="167249" marT="83624" marB="83624"/>
                </a:tc>
                <a:tc>
                  <a:txBody>
                    <a:bodyPr/>
                    <a:lstStyle/>
                    <a:p>
                      <a:r>
                        <a:rPr lang="en-US" sz="3300"/>
                        <a:t>812</a:t>
                      </a:r>
                    </a:p>
                  </a:txBody>
                  <a:tcPr marL="167249" marR="167249" marT="83624" marB="83624"/>
                </a:tc>
                <a:extLst>
                  <a:ext uri="{0D108BD9-81ED-4DB2-BD59-A6C34878D82A}">
                    <a16:rowId xmlns:a16="http://schemas.microsoft.com/office/drawing/2014/main" val="683857188"/>
                  </a:ext>
                </a:extLst>
              </a:tr>
              <a:tr h="735896">
                <a:tc>
                  <a:txBody>
                    <a:bodyPr/>
                    <a:lstStyle/>
                    <a:p>
                      <a:r>
                        <a:rPr lang="en-US" sz="3300"/>
                        <a:t>1</a:t>
                      </a:r>
                    </a:p>
                  </a:txBody>
                  <a:tcPr marL="167249" marR="167249" marT="83624" marB="83624"/>
                </a:tc>
                <a:tc>
                  <a:txBody>
                    <a:bodyPr/>
                    <a:lstStyle/>
                    <a:p>
                      <a:r>
                        <a:rPr lang="en-US" sz="3300"/>
                        <a:t>86</a:t>
                      </a:r>
                    </a:p>
                  </a:txBody>
                  <a:tcPr marL="167249" marR="167249" marT="83624" marB="83624"/>
                </a:tc>
                <a:tc>
                  <a:txBody>
                    <a:bodyPr/>
                    <a:lstStyle/>
                    <a:p>
                      <a:r>
                        <a:rPr lang="en-US" sz="3300"/>
                        <a:t>172</a:t>
                      </a:r>
                    </a:p>
                  </a:txBody>
                  <a:tcPr marL="167249" marR="167249" marT="83624" marB="83624"/>
                </a:tc>
                <a:extLst>
                  <a:ext uri="{0D108BD9-81ED-4DB2-BD59-A6C34878D82A}">
                    <a16:rowId xmlns:a16="http://schemas.microsoft.com/office/drawing/2014/main" val="21797689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2160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CBB62D-2A26-E0F5-1C8D-45AA7B68A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94FEFB-4B51-55EA-DCE0-EE518525A4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sz="2000" b="1"/>
              <a:t>Best Model: Linear Regression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/>
              <a:t>Reason</a:t>
            </a:r>
            <a:r>
              <a:rPr lang="en-US" sz="2000"/>
              <a:t>: The multiple linear regression model achieved a slightly higher predictive accuracy (92.29%) compared to the pruned decision tree (92.20%). Additionally, it provides detailed insights into predictor significance and effect sizes, making it more interpretable and useful for understanding the relationships between variables.</a:t>
            </a:r>
          </a:p>
          <a:p>
            <a:r>
              <a:rPr lang="en-US" sz="2000" b="1"/>
              <a:t>Worst Model: Pruned Decision Tree (depth = 3)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/>
              <a:t>Reason</a:t>
            </a:r>
            <a:r>
              <a:rPr lang="en-US" sz="2000"/>
              <a:t>: Although the pruned decision tree performs well with a 92.20% accuracy, it slightly underperforms compared to the linear regression model. It also lacks the granularity in identifying the influence of individual predictors, making it less informative for drawing actionable conclusions.</a:t>
            </a:r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9287999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F5CDEE-6205-44F8-D252-350FED929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b="1">
                <a:solidFill>
                  <a:srgbClr val="FFFFFF"/>
                </a:solidFill>
              </a:rPr>
              <a:t>Future Enhancement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005C949-5DD1-3534-B830-4D99A2FA305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810259" y="649480"/>
            <a:ext cx="6555347" cy="554604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altLang="en-US" sz="2000">
                <a:latin typeface="Arial" panose="020B0604020202020204" pitchFamily="34" charset="0"/>
              </a:rPr>
              <a:t>I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ncorporate advanced machine learning techniques (e.g., Random Forests, Gradient Boosting) to capture non-linear effects missed by linear regression.</a:t>
            </a:r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endParaRPr kumimoji="0" lang="en-US" altLang="en-US" sz="20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Outliers and high residual variance (-0.836 to 1.181) will be addressed to improve model robustness and fit.</a:t>
            </a:r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endParaRPr kumimoji="0" lang="en-US" altLang="en-US" sz="20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Models will be tested on an independent dataset to assess generalizability and ensure consistent predictive performance.</a:t>
            </a:r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endParaRPr kumimoji="0" lang="en-US" altLang="en-US" sz="20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Regular updates will be implemented with new data to maintain relevance and adapt to changes in predictor relationships. </a:t>
            </a:r>
          </a:p>
        </p:txBody>
      </p:sp>
    </p:spTree>
    <p:extLst>
      <p:ext uri="{BB962C8B-B14F-4D97-AF65-F5344CB8AC3E}">
        <p14:creationId xmlns:p14="http://schemas.microsoft.com/office/powerpoint/2010/main" val="17735681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2606</TotalTime>
  <Words>1228</Words>
  <Application>Microsoft Office PowerPoint</Application>
  <PresentationFormat>Widescreen</PresentationFormat>
  <Paragraphs>196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PowerPoint Presentation</vt:lpstr>
      <vt:lpstr>Data set description and EDA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</vt:lpstr>
      <vt:lpstr>Future Enhancement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chaithanya mahila mandali cmm</dc:creator>
  <cp:lastModifiedBy>chaithanya mahila mandali cmm</cp:lastModifiedBy>
  <cp:revision>9</cp:revision>
  <dcterms:created xsi:type="dcterms:W3CDTF">2024-12-20T17:21:55Z</dcterms:created>
  <dcterms:modified xsi:type="dcterms:W3CDTF">2025-06-25T02:36:17Z</dcterms:modified>
</cp:coreProperties>
</file>